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300" kern="0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· HIPERPARAMETRIZACIÓN Y MODELO FINAL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120700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¿Cuánto venderá Olist en los</a:t>
            </a:r>
            <a:endParaRPr lang="en-US" sz="3300" dirty="0"/>
          </a:p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próximos 3 meses?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14400" y="2670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 de cómo 9 modelos compitieron por convertirse en nuestro forecast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3310128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1F2A4A"/>
          </a:solidFill>
          <a:ln w="12700">
            <a:solidFill>
              <a:srgbClr val="2E3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7764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historia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3310128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1F2A4A"/>
          </a:solidFill>
          <a:ln w="12700">
            <a:solidFill>
              <a:srgbClr val="2E3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0" y="37764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 competencia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3310128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1F2A4A"/>
          </a:solidFill>
          <a:ln w="12700">
            <a:solidFill>
              <a:srgbClr val="2E3D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97880" y="37764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champion… a prueba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10  ·  Forecast de Ingresos Mensuales  ·  Olist Brazilian E-Commerce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PRÓLOGO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viaje hasta aquí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06040" cy="1755648"/>
          </a:xfrm>
          <a:prstGeom prst="roundRect">
            <a:avLst>
              <a:gd name="adj" fmla="val 3125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463040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61288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 — El problema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199339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el target monthly_revenue, las hipótesis de negocio y una línea base honesta: MA-3M con MAPE 7.1%.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298448"/>
            <a:ext cx="2606040" cy="1755648"/>
          </a:xfrm>
          <a:prstGeom prst="roundRect">
            <a:avLst>
              <a:gd name="adj" fmla="val 3125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1463040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68496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 — La fábrica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99339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reproducible: limpieza, 44 features mensuales y splits temporales que respetan el calendario.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17336" y="1298448"/>
            <a:ext cx="2606040" cy="1755648"/>
          </a:xfrm>
          <a:prstGeom prst="roundRect">
            <a:avLst>
              <a:gd name="adj" fmla="val 3125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281928" y="1463040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75704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— La verdad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1928" y="199339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con Optuna, comparar 9 modelos, decidir con evidencia y empaquetar para uso mensual.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291840"/>
            <a:ext cx="8138160" cy="1417320"/>
          </a:xfrm>
          <a:prstGeom prst="roundRect">
            <a:avLst>
              <a:gd name="adj" fmla="val 3871"/>
            </a:avLst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381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REGLAS DEL JUEGO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767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MAPE &lt; 10%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0599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 negocio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767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Serie corta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40599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meses: poco margen para el error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89320" y="3767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Cero fuga de información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89320" y="40599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septiembre sabiendo solo hasta junio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 I — MENOS ES MÁS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 variables entran, 5 se ganan el puesto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embudo de selección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393192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4290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94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761488"/>
            <a:ext cx="292608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761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242316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3284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Univariante (MI)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895344"/>
            <a:ext cx="192024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8953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RFECV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6276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 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40280" y="38953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4526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WoE/IV del flujo de scoring → información mutua: su equivalente para un target continuo.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1280160"/>
            <a:ext cx="3657600" cy="150876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84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−0.03 pp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166360" y="2011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ΔMAPE: el costo de pasar de 41 a 5 features fue cero.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“60→30: Gini 50→47” del flujo… pero gratis.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5 elegidas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monthly_orders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Órdenes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66360" y="36027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Estacionalidad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6636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month_sin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Estacionalidad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66360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Estacionalidad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66360" y="45354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avg_delay_days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Entregas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completa: reports/seleccion_variables.csv (flagSelected + importancias)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 II — EL TORNEO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modelos, las mismas reglas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Entrenan solo hasta abr-2018 y predicen may–jul sin verlo  ·  LightGBM afinado con Optuna (30 trials, CV temporal)</a:t>
            </a:r>
            <a:endParaRPr lang="en-US" sz="1150" dirty="0"/>
          </a:p>
        </p:txBody>
      </p:sp>
      <p:pic>
        <p:nvPicPr>
          <p:cNvPr id="5" name="Image 0" descr="/sessions/bold-charming-archimedes/mnt/ProyectoG10/reports/sprint3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81328"/>
            <a:ext cx="7635240" cy="2980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gana el torneo con MAPE 4.5%…  ¿historia cerrada?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 III — EL GIRO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trampa del sobreajuste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4663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51560"/>
                <a:gridCol w="1280160"/>
                <a:gridCol w="7772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RMSE train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RMSE backtest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Gap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70 971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67 885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×1.0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74 765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×178 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69 570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104 094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(Optuna)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105 379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188 710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794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del flujo de ejemplo: “reducir la distancia entre el desempeño en train y en backtest”.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0" y="13258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×178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486400" y="2331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clava el train (RMSE 419) pero su error se multiplica por 178 fuera de él.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aprendió: memorizó.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0" y="3383280"/>
            <a:ext cx="3154680" cy="1051560"/>
          </a:xfrm>
          <a:prstGeom prst="roundRect">
            <a:avLst>
              <a:gd name="adj" fmla="val 5217"/>
            </a:avLst>
          </a:prstGeom>
          <a:solidFill>
            <a:srgbClr val="14213D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0" y="35204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Veredicto: el ganador aparente queda descartado. El gap importa tanto como la métrica.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 IV — LA DECISIÓN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champion en el trono, un challenger al acecho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81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CHAMPION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LightGBM + Optuna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85800" y="21396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10.1% · gap ×1.8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05456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con actualización incremental mensual (requisito del Sprint 2), tuning integrado e intervalos de confianza. El artefacto de producción.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325880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481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CHALLENGER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93008" y="17556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493008" y="21396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4.7% · gap ×1.0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3008" y="2505456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equilibrio del torneo… pero con solo 3 meses de backtest su ventaja puede ser suerte.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7336" y="1325880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0216" y="1481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REGLA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0216" y="17556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Promoción por evidencia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00216" y="21396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meses seguidos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0216" y="2505456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mes compiten con datos reales. Si el challenger gana 2 meses consecutivos, se corona champion. Todo queda en la metadata del modelo.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 = 3 nadie gana por nocaut: la decisión combina evidencia, criterios operativos y una regla que se corrige sola.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DESENLACE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pronóstico: próximos 3 meses</a:t>
            </a:r>
            <a:endParaRPr lang="en-US" sz="2700" dirty="0"/>
          </a:p>
        </p:txBody>
      </p:sp>
      <p:pic>
        <p:nvPicPr>
          <p:cNvPr id="4" name="Image 0" descr="/sessions/bold-charming-archimedes/mnt/ProyectoG10/reports/sprint3_final_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5715000" cy="23408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137160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/>
        </p:spPr>
      </p:sp>
      <p:sp>
        <p:nvSpPr>
          <p:cNvPr id="6" name="Text 3"/>
          <p:cNvSpPr/>
          <p:nvPr/>
        </p:nvSpPr>
        <p:spPr>
          <a:xfrm>
            <a:off x="6629400" y="14447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AGO 2018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29400" y="164592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R$ 1.31M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29400" y="1874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IC95: 1.15 – 1.46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46520" y="2212848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/>
        </p:spPr>
      </p:sp>
      <p:sp>
        <p:nvSpPr>
          <p:cNvPr id="10" name="Text 7"/>
          <p:cNvSpPr/>
          <p:nvPr/>
        </p:nvSpPr>
        <p:spPr>
          <a:xfrm>
            <a:off x="6629400" y="22860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 2018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29400" y="248716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R$ 1.29M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29400" y="27157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IC95: 1.02 – 1.57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46520" y="3054096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/>
        </p:spPr>
      </p:sp>
      <p:sp>
        <p:nvSpPr>
          <p:cNvPr id="14" name="Text 11"/>
          <p:cNvSpPr/>
          <p:nvPr/>
        </p:nvSpPr>
        <p:spPr>
          <a:xfrm>
            <a:off x="6629400" y="31272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OCT 2018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29400" y="332841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R$ 1.42M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2940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IC95: 1.09 – 1.74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4160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al 95% construidos con los residuos del propio modelo — adiós al supuesto fijo de ±15%.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final se reentrena con los 20 meses completos antes de mirar al futuro.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DETRÁS DEL PRONÓSTICO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mueve los ingresos?</a:t>
            </a:r>
            <a:endParaRPr lang="en-US" sz="2700" dirty="0"/>
          </a:p>
        </p:txBody>
      </p:sp>
      <p:pic>
        <p:nvPicPr>
          <p:cNvPr id="4" name="Image 0" descr="/sessions/bold-charming-archimedes/mnt/ProyectoG10/reports/sprint3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5074920" cy="22037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978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Importancia en el modelo final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97880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18120" y="1737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26.9%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9788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monthly_orders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18120" y="2103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25.8%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97880" y="2468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month_sin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18120" y="24688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23.0%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97880" y="2834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avg_delay_days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18120" y="28346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12.8%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97880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818120" y="32004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11.6%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397764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14213D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1148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calendario manda (62% combinado): el e-commerce respira en trimestres y temporadas. Y los retrasos de entrega también dejan huella en los ingresos.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LEGADO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Listo para producción, mes a mes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" y="1755648"/>
            <a:ext cx="0" cy="484632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344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Llegan los datos del 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6184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 nuevos a data/raw/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2624328"/>
            <a:ext cx="0" cy="484632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modelo se actualiza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4871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mensual (warm-start) · re-tuning Optuna trimestral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4944" y="3493008"/>
            <a:ext cx="0" cy="484632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081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PredictPipeline pronostica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355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.pkl y entrega el forecast con intervalos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77640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3950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champion defiende el trono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vs Random Forest y MA-3M + gap de sobreajuste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49240" y="1371600"/>
            <a:ext cx="3291840" cy="2743200"/>
          </a:xfrm>
          <a:prstGeom prst="roundRect">
            <a:avLst>
              <a:gd name="adj" fmla="val 2000"/>
            </a:avLst>
          </a:prstGeom>
          <a:solidFill>
            <a:srgbClr val="14213D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15361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A3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final_model.pkl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1828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cédula de identidad del modelo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1945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 hiperparámetros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y gap del backtest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de los challengers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exactas de librerías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49240" y="4297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Respaldado por 35 tests automatizados del pipeline (pytest).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EPÍLOGO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modelo no es el final de la historia: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 el comienzo del monitoreo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25880" y="2240280"/>
            <a:ext cx="109728" cy="1097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2148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modelos, un solo protocolo honesto — sin fuga de información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25880" y="2670048"/>
            <a:ext cx="109728" cy="1097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2578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gap train–backtest desenmascaró al ganador aparente (XGBoost ×178)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25880" y="3099816"/>
            <a:ext cx="109728" cy="1097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30083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→ 5 variables sin perder precisión, con trazabilidad en CSV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25880" y="3529584"/>
            <a:ext cx="109728" cy="1097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34381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final_model.pkl con metadata completa, listo para la ejecución mensual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25880" y="3959352"/>
            <a:ext cx="109728" cy="1097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38679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champion (LightGBM) defiende su puesto cada mes contra sus challengers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 — Grupo 10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3 - Defensa</dc:title>
  <dc:subject>PptxGenJS Presentation</dc:subject>
  <dc:creator>Grupo 10</dc:creator>
  <cp:lastModifiedBy>Grupo 10</cp:lastModifiedBy>
  <cp:revision>1</cp:revision>
  <dcterms:created xsi:type="dcterms:W3CDTF">2026-06-13T00:36:44Z</dcterms:created>
  <dcterms:modified xsi:type="dcterms:W3CDTF">2026-06-13T00:36:44Z</dcterms:modified>
</cp:coreProperties>
</file>